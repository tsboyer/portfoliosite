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d66404af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d66404af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66404af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d66404af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bad9c7d4b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bad9c7d4b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bad9c7d4b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bad9c7d4b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6d66404af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6d66404af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d66404af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d66404af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d66404a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d66404a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89bfdc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2389bfdc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6c8e5aa5e0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6c8e5aa5e0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d66404af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d66404af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bad9c7d4b_4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bad9c7d4b_4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d/1oIn6n67decpejK4ntU2SYJBlY5bqzLJPDgrZh4A1eVw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d/1optEHukpGWV0FqlEQxIllMtInqha8XlBvt92gImKbtM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content.pivotal.io/blog/do-you-have-a-good-outcome-oriented-roadmap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10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28400" y="322275"/>
            <a:ext cx="44880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66666"/>
                </a:solidFill>
              </a:rPr>
              <a:t>OUTCOME ORIENTED</a:t>
            </a:r>
            <a:endParaRPr b="1" sz="32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A planning process focusing on the experience of the user 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2500"/>
              </a:spcBef>
              <a:spcAft>
                <a:spcPts val="250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 amt="10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28400" y="322275"/>
            <a:ext cx="44880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666666"/>
                </a:solidFill>
              </a:rPr>
              <a:t>OUTCOME ORIENTED</a:t>
            </a:r>
            <a:endParaRPr b="1" sz="32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</a:rPr>
              <a:t>A planning process focusing on the experience of the user </a:t>
            </a:r>
            <a:endParaRPr b="1"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The objective of an outcome oriented planning approach is to outline </a:t>
            </a:r>
            <a:r>
              <a:rPr i="1" lang="en" sz="1100">
                <a:solidFill>
                  <a:srgbClr val="666666"/>
                </a:solidFill>
                <a:highlight>
                  <a:srgbClr val="FFFFFF"/>
                </a:highlight>
              </a:rPr>
              <a:t>why we intend to deliver</a:t>
            </a: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… albeit a feature, a new product, a new UI, and even a new service flow.</a:t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This form of planning is well suited for an Agile based product team because the roadmap is dynamic based upon the defined outcomes.  An outcome oriented roadmap is:</a:t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70000"/>
              </a:lnSpc>
              <a:spcBef>
                <a:spcPts val="250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focused on outcomes over output</a:t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is evolving rather than static</a:t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  <a:highlight>
                  <a:srgbClr val="FFFFFF"/>
                </a:highlight>
              </a:rPr>
              <a:t>embraces learning over establishing certainty</a:t>
            </a:r>
            <a:endParaRPr sz="1100">
              <a:solidFill>
                <a:srgbClr val="666666"/>
              </a:solidFill>
              <a:highlight>
                <a:srgbClr val="FFFFFF"/>
              </a:highlight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28400" y="1021050"/>
            <a:ext cx="3862800" cy="31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By centering the product design conversation around outcomes, we become feature-agnostic and enable our team to use their expertise to explore the solutions that solve the unique needs of users.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Keeping the user at the </a:t>
            </a:r>
            <a:r>
              <a:rPr lang="en" sz="1100"/>
              <a:t>forefront</a:t>
            </a:r>
            <a:r>
              <a:rPr lang="en" sz="1100"/>
              <a:t>, each team member is tasked with representing the user, advocating for that user, and </a:t>
            </a:r>
            <a:r>
              <a:rPr lang="en" sz="1100"/>
              <a:t>therefore</a:t>
            </a:r>
            <a:r>
              <a:rPr lang="en" sz="1100"/>
              <a:t> maintain communication with that user.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allows us to optimize for learning and for the team to use their expertise which provides a sense of purpose and leads to better product.</a:t>
            </a:r>
            <a:endParaRPr sz="11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5475075" y="892800"/>
            <a:ext cx="3288900" cy="3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Outcome-based roadmaps provide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VISIBILITY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</a:rPr>
              <a:t>while enabling the team to prioritize and plan based on value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CLARITY AND ALIGNMENT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</a:rPr>
              <a:t>between sponsors, stakeholders and the product team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AUTONOMY AND EMPOWERMENT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</a:rPr>
              <a:t>for product teams to solve problems, rather than implement solutions 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SPACE FOR USER FEEDBACK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" sz="1100">
                <a:solidFill>
                  <a:srgbClr val="666666"/>
                </a:solidFill>
              </a:rPr>
              <a:t>in the product development process, with time allotted for learning and implementing changes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28400" y="795000"/>
            <a:ext cx="42435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UNDERSTANDING THE VISION</a:t>
            </a:r>
            <a:br>
              <a:rPr b="1" lang="en" sz="1400"/>
            </a:br>
            <a:br>
              <a:rPr lang="en" sz="1100"/>
            </a:br>
            <a:r>
              <a:rPr lang="en" sz="1100"/>
              <a:t>The whole team, stakeholders included, need to agree upon and understand the experience desired for the users.  This state captures the desired outcomes in a crafted narrative that is aspirational.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Complexity as well as technical constraints and unique business challenges are factored in later.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narrative is a compelling scenario writing approach which grounds the brand, products, and features into the behavior of the personas being addressed.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28400" y="795000"/>
            <a:ext cx="4081800" cy="38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STRATEGY</a:t>
            </a:r>
            <a:br>
              <a:rPr b="1" lang="en" sz="1400"/>
            </a:br>
            <a:br>
              <a:rPr lang="en" sz="1100"/>
            </a:br>
            <a:r>
              <a:rPr lang="en" sz="1100"/>
              <a:t>With a vision laid out the process now becomes distilling down that vision into the Now, the Near, and the Future.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Next it is important to callout: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do we need to do to realize this vision?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</a:t>
            </a:r>
            <a:r>
              <a:rPr lang="en" sz="1100"/>
              <a:t>.e. what research needs to be done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might be some challenges that we need to overcome?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</a:t>
            </a:r>
            <a:r>
              <a:rPr lang="en" sz="1100"/>
              <a:t>.e. technical, commercial, physical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What initiatives will allow us to solve for those challenges?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</a:t>
            </a:r>
            <a:r>
              <a:rPr lang="en" sz="1100"/>
              <a:t>.e. growing trends in VUI, new data science models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328400" y="795000"/>
            <a:ext cx="4243500" cy="38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ROADMAP</a:t>
            </a:r>
            <a:br>
              <a:rPr b="1" lang="en" sz="1400"/>
            </a:br>
            <a:br>
              <a:rPr lang="en" sz="1100"/>
            </a:br>
            <a:r>
              <a:rPr lang="en" sz="1100">
                <a:solidFill>
                  <a:srgbClr val="666666"/>
                </a:solidFill>
              </a:rPr>
              <a:t>This is not a hard promise or release plan, but rather a high-level strategy for achievable outcomes broken down in any way desired; quarters, sub 3 months, half year, year.  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666666"/>
                </a:solidFill>
              </a:rPr>
              <a:t>it is recommended that this timetable be consistent across teams, for parity</a:t>
            </a:r>
            <a:endParaRPr i="1"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Things to capture would be: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Research-based feature ideas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Feature improvements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Performance and code quality </a:t>
            </a:r>
            <a:r>
              <a:rPr lang="en" sz="1100"/>
              <a:t>improvements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328400" y="795000"/>
            <a:ext cx="4243500" cy="38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BACKLOG</a:t>
            </a:r>
            <a:br>
              <a:rPr b="1" lang="en" sz="1400"/>
            </a:br>
            <a:br>
              <a:rPr lang="en" sz="1100"/>
            </a:br>
            <a:r>
              <a:rPr lang="en" sz="1100">
                <a:solidFill>
                  <a:srgbClr val="666666"/>
                </a:solidFill>
              </a:rPr>
              <a:t>Nope, we can’t get rid of this; however, to prevent the Backlog from becoming just another list, dedicated time should be spent by the team collectively reviewing the list.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This helps prevent it from becoming just another list.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149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(A)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1128000" y="2159975"/>
            <a:ext cx="71895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writing created for the Aktana Command Center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https://docs.google.com/document/d/1oIn6n67decpejK4ntU2SYJBlY5bqzLJPDgrZh4A1eVw/edit?usp=sharing</a:t>
            </a:r>
            <a:endParaRPr i="1" sz="1100"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149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(B)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1008450" y="2167250"/>
            <a:ext cx="71271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cenario writing created for Aktana NEO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https://docs.google.com/document/d/1optEHukpGWV0FqlEQxIllMtInqha8XlBvt92gImKbtM/edit?usp=sharing</a:t>
            </a:r>
            <a:endParaRPr i="1" sz="1100"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149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r>
              <a:rPr lang="en"/>
              <a:t> (C)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128000" y="2159975"/>
            <a:ext cx="68880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 good outcome oriented roadmap?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Pivotal blog post with 6 test elements to sure the roadmap is effective.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https://content.pivotal.io/blog/do-you-have-a-good-outcome-oriented-roadmap</a:t>
            </a:r>
            <a:endParaRPr sz="1100"/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 amt="5000"/>
          </a:blip>
          <a:srcRect b="14259" l="-3405" r="19743" t="3361"/>
          <a:stretch/>
        </p:blipFill>
        <p:spPr>
          <a:xfrm>
            <a:off x="3206325" y="0"/>
            <a:ext cx="5937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>
            <p:ph idx="1" type="subTitle"/>
          </p:nvPr>
        </p:nvSpPr>
        <p:spPr>
          <a:xfrm>
            <a:off x="328400" y="226200"/>
            <a:ext cx="3998400" cy="4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DESIGN PRINCIPLES</a:t>
            </a:r>
            <a:endParaRPr b="1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/>
            </a:br>
            <a:r>
              <a:rPr b="1" lang="en" sz="1100"/>
              <a:t>EMPOWER USERS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Building trust begins with meeting the users' outcomes while providing a sense of accomplishment.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b="1" lang="en" sz="1100"/>
              <a:t>DESIGN IS NOT AN ISLAND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Design is the product of collaboration amongst all entities involved to define a problem, understand a problem, and solve a problem.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b="1" lang="en" sz="1100"/>
              <a:t>MINIMIZE THE PAIN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People want what lies on the other side of their task, so the process of completing said task should be as simple and easy as possible.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b="1" lang="en" sz="1100"/>
              <a:t>ILLUMINATE A PATH TO COMPLETION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Since the point of just about every task is a means to the outcome, make it abundantly clear how people can accomplish the desired outcome.</a:t>
            </a:r>
            <a:endParaRPr sz="1100"/>
          </a:p>
        </p:txBody>
      </p:sp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4823250" y="1620694"/>
            <a:ext cx="3998400" cy="24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CONSIDER THE CONTEXT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Products rarely exist in a vacuum.  They are almost always part of a broader context (environment, audience, device, business), which informs how they'll be used.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b="1" lang="en" sz="1100"/>
              <a:t>ENSURE CONSISTENT COMMUNICATION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Products broker conversations between customers and companies.  Although an organization can have many groups taking part in these conversations (product, design, marketing, clinical, engineering, legal, business, etc.) a product needs to speak to its audience with one voice.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